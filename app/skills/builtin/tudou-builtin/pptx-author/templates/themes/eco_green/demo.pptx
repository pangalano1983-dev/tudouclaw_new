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营收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280</c:v>
                </c:pt>
                <c:pt idx="1">
                  <c:v>370</c:v>
                </c:pt>
                <c:pt idx="2">
                  <c:v>330</c:v>
                </c:pt>
                <c:pt idx="3">
                  <c:v>350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194560"/>
            <a:ext cx="91440" cy="2468880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4200" b="1">
                <a:solidFill>
                  <a:srgbClr val="F5F5F4"/>
                </a:solidFill>
                <a:latin typeface="Arial"/>
              </a:rPr>
              <a:t>综合演示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100584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00" b="0">
                <a:solidFill>
                  <a:srgbClr val="ECFCCB"/>
                </a:solidFill>
                <a:latin typeface="Arial"/>
              </a:rPr>
              <a:t>8 版式覆盖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9436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78350F"/>
                </a:solidFill>
                <a:latin typeface="Arial"/>
              </a:rPr>
              <a:t>2026 Q2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ECF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4114800" cy="2743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0" b="1">
                <a:solidFill>
                  <a:srgbClr val="78350F"/>
                </a:solidFill>
                <a:latin typeface="Arial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2651760"/>
            <a:ext cx="73152" cy="1645920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0" y="2651760"/>
            <a:ext cx="59436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200" b="1">
                <a:solidFill>
                  <a:srgbClr val="166534"/>
                </a:solidFill>
                <a:latin typeface="Arial"/>
              </a:rPr>
              <a:t>章节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3657600"/>
            <a:ext cx="59436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600" b="0">
                <a:solidFill>
                  <a:srgbClr val="57534E"/>
                </a:solidFill>
                <a:latin typeface="Arial"/>
              </a:rPr>
              <a:t>副题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1C1917"/>
                </a:solidFill>
                <a:latin typeface="Arial"/>
              </a:rPr>
              <a:t>三大支柱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91640" y="1554480"/>
            <a:ext cx="914400" cy="914400"/>
          </a:xfrm>
          <a:prstGeom prst="ellipse">
            <a:avLst/>
          </a:prstGeom>
          <a:solidFill>
            <a:srgbClr val="ECF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65960" y="1783080"/>
            <a:ext cx="457200" cy="457200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74320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C1917"/>
                </a:solidFill>
                <a:latin typeface="Arial"/>
              </a:rPr>
              <a:t>以人为本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19" y="3429000"/>
            <a:ext cx="548640" cy="27432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338328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7534E"/>
                </a:solidFill>
                <a:latin typeface="Arial"/>
              </a:rPr>
              <a:t>用户需求最前端。</a:t>
            </a:r>
          </a:p>
        </p:txBody>
      </p:sp>
      <p:sp>
        <p:nvSpPr>
          <p:cNvPr id="10" name="Oval 9"/>
          <p:cNvSpPr/>
          <p:nvPr/>
        </p:nvSpPr>
        <p:spPr>
          <a:xfrm>
            <a:off x="5486400" y="1554480"/>
            <a:ext cx="914400" cy="914400"/>
          </a:xfrm>
          <a:prstGeom prst="ellipse">
            <a:avLst/>
          </a:prstGeom>
          <a:solidFill>
            <a:srgbClr val="ECF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60720" y="1783080"/>
            <a:ext cx="457200" cy="457200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274320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C1917"/>
                </a:solidFill>
                <a:latin typeface="Arial"/>
              </a:rPr>
              <a:t>极致效率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3429000"/>
            <a:ext cx="548640" cy="27432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3657600"/>
            <a:ext cx="338328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7534E"/>
                </a:solidFill>
                <a:latin typeface="Arial"/>
              </a:rPr>
              <a:t>全链路压缩时间。</a:t>
            </a:r>
          </a:p>
        </p:txBody>
      </p:sp>
      <p:sp>
        <p:nvSpPr>
          <p:cNvPr id="15" name="Oval 14"/>
          <p:cNvSpPr/>
          <p:nvPr/>
        </p:nvSpPr>
        <p:spPr>
          <a:xfrm>
            <a:off x="9281160" y="1554480"/>
            <a:ext cx="914400" cy="914400"/>
          </a:xfrm>
          <a:prstGeom prst="ellipse">
            <a:avLst/>
          </a:prstGeom>
          <a:solidFill>
            <a:srgbClr val="ECF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55480" y="1783080"/>
            <a:ext cx="457200" cy="457200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274320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C1917"/>
                </a:solidFill>
                <a:latin typeface="Arial"/>
              </a:rPr>
              <a:t>稳健合规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64040" y="3429000"/>
            <a:ext cx="548640" cy="27432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3657600"/>
            <a:ext cx="338328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7534E"/>
                </a:solidFill>
                <a:latin typeface="Arial"/>
              </a:rPr>
              <a:t>内建合规检查。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1C1917"/>
                </a:solidFill>
                <a:latin typeface="Arial"/>
              </a:rPr>
              <a:t>四大能力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73152" cy="2103120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59" y="1463040"/>
            <a:ext cx="457200" cy="457200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46304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1C1917"/>
                </a:solidFill>
                <a:latin typeface="Arial"/>
              </a:rPr>
              <a:t>安全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103120"/>
            <a:ext cx="53035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57534E"/>
                </a:solidFill>
                <a:latin typeface="Arial"/>
              </a:rPr>
              <a:t>合规接入。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59" y="1371600"/>
            <a:ext cx="73152" cy="2103120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79" y="1463040"/>
            <a:ext cx="457200" cy="457200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146304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1C1917"/>
                </a:solidFill>
                <a:latin typeface="Arial"/>
              </a:rPr>
              <a:t>监控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2103120"/>
            <a:ext cx="53035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57534E"/>
                </a:solidFill>
                <a:latin typeface="Arial"/>
              </a:rPr>
              <a:t>秒级告警。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73152" cy="2103120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59" y="3931920"/>
            <a:ext cx="457200" cy="457200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393192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1C1917"/>
                </a:solidFill>
                <a:latin typeface="Arial"/>
              </a:rPr>
              <a:t>响应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572000"/>
            <a:ext cx="53035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57534E"/>
                </a:solidFill>
                <a:latin typeface="Arial"/>
              </a:rPr>
              <a:t>闭环。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59" y="3840480"/>
            <a:ext cx="73152" cy="2103120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83679" y="3931920"/>
            <a:ext cx="457200" cy="457200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393192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1C1917"/>
                </a:solidFill>
                <a:latin typeface="Arial"/>
              </a:rPr>
              <a:t>治理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4572000"/>
            <a:ext cx="53035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57534E"/>
                </a:solidFill>
                <a:latin typeface="Arial"/>
              </a:rPr>
              <a:t>权限隔离。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1C1917"/>
                </a:solidFill>
                <a:latin typeface="Arial"/>
              </a:rPr>
              <a:t>传统 vs 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212080" cy="5029200"/>
          </a:xfrm>
          <a:prstGeom prst="rect">
            <a:avLst/>
          </a:prstGeom>
          <a:solidFill>
            <a:srgbClr val="ECF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212080" cy="548640"/>
          </a:xfrm>
          <a:prstGeom prst="rect">
            <a:avLst/>
          </a:prstGeom>
          <a:solidFill>
            <a:srgbClr val="575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2120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5F5F4"/>
                </a:solidFill>
                <a:latin typeface="Arial"/>
              </a:rPr>
              <a:t>传统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40279"/>
            <a:ext cx="164592" cy="164592"/>
          </a:xfrm>
          <a:prstGeom prst="ellipse">
            <a:avLst/>
          </a:prstGeom>
          <a:solidFill>
            <a:srgbClr val="575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57534E"/>
                </a:solidFill>
                <a:latin typeface="Arial"/>
              </a:rPr>
              <a:t>人工盯盘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017520"/>
            <a:ext cx="164592" cy="164592"/>
          </a:xfrm>
          <a:prstGeom prst="ellipse">
            <a:avLst/>
          </a:prstGeom>
          <a:solidFill>
            <a:srgbClr val="575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88036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57534E"/>
                </a:solidFill>
                <a:latin typeface="Arial"/>
              </a:rPr>
              <a:t>审批周期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794760"/>
            <a:ext cx="164592" cy="164592"/>
          </a:xfrm>
          <a:prstGeom prst="ellipse">
            <a:avLst/>
          </a:prstGeom>
          <a:solidFill>
            <a:srgbClr val="575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65760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57534E"/>
                </a:solidFill>
                <a:latin typeface="Arial"/>
              </a:rPr>
              <a:t>数据散落</a:t>
            </a:r>
          </a:p>
        </p:txBody>
      </p:sp>
      <p:sp>
        <p:nvSpPr>
          <p:cNvPr id="14" name="Oval 13"/>
          <p:cNvSpPr/>
          <p:nvPr/>
        </p:nvSpPr>
        <p:spPr>
          <a:xfrm>
            <a:off x="5788152" y="3246120"/>
            <a:ext cx="612648" cy="612648"/>
          </a:xfrm>
          <a:prstGeom prst="ellipse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88152" y="3246120"/>
            <a:ext cx="612648" cy="6126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5F5F4"/>
                </a:solidFill>
                <a:latin typeface="Arial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19672" y="1371600"/>
            <a:ext cx="5212080" cy="5029200"/>
          </a:xfrm>
          <a:prstGeom prst="rect">
            <a:avLst/>
          </a:prstGeom>
          <a:solidFill>
            <a:srgbClr val="ECF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19672" y="1371600"/>
            <a:ext cx="5212080" cy="54864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1371600"/>
            <a:ext cx="52120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5F5F4"/>
                </a:solidFill>
                <a:latin typeface="Arial"/>
              </a:rPr>
              <a:t>新</a:t>
            </a:r>
          </a:p>
        </p:txBody>
      </p:sp>
      <p:sp>
        <p:nvSpPr>
          <p:cNvPr id="19" name="Oval 18"/>
          <p:cNvSpPr/>
          <p:nvPr/>
        </p:nvSpPr>
        <p:spPr>
          <a:xfrm>
            <a:off x="6793992" y="2240279"/>
            <a:ext cx="164592" cy="164592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14032" y="210312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57534E"/>
                </a:solidFill>
                <a:latin typeface="Arial"/>
              </a:rPr>
              <a:t>自动监控</a:t>
            </a:r>
          </a:p>
        </p:txBody>
      </p:sp>
      <p:sp>
        <p:nvSpPr>
          <p:cNvPr id="21" name="Oval 20"/>
          <p:cNvSpPr/>
          <p:nvPr/>
        </p:nvSpPr>
        <p:spPr>
          <a:xfrm>
            <a:off x="6793992" y="3017520"/>
            <a:ext cx="164592" cy="164592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14032" y="288036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57534E"/>
                </a:solidFill>
                <a:latin typeface="Arial"/>
              </a:rPr>
              <a:t>策略预设</a:t>
            </a:r>
          </a:p>
        </p:txBody>
      </p:sp>
      <p:sp>
        <p:nvSpPr>
          <p:cNvPr id="23" name="Oval 22"/>
          <p:cNvSpPr/>
          <p:nvPr/>
        </p:nvSpPr>
        <p:spPr>
          <a:xfrm>
            <a:off x="6793992" y="3794760"/>
            <a:ext cx="164592" cy="164592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14032" y="365760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57534E"/>
                </a:solidFill>
                <a:latin typeface="Arial"/>
              </a:rPr>
              <a:t>统一数据湖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1C1917"/>
                </a:solidFill>
                <a:latin typeface="Arial"/>
              </a:rPr>
              <a:t>三步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0432" y="1463040"/>
            <a:ext cx="36576" cy="3840480"/>
          </a:xfrm>
          <a:prstGeom prst="rect">
            <a:avLst/>
          </a:prstGeom>
          <a:solidFill>
            <a:srgbClr val="A3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371600"/>
            <a:ext cx="548640" cy="548640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5F5F4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325880"/>
            <a:ext cx="9601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1C1917"/>
                </a:solidFill>
                <a:latin typeface="Arial"/>
              </a:rPr>
              <a:t>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828800"/>
            <a:ext cx="96012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57534E"/>
                </a:solidFill>
                <a:latin typeface="Arial"/>
              </a:rPr>
              <a:t>目标预算。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337560"/>
            <a:ext cx="548640" cy="548640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5F5F4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291840"/>
            <a:ext cx="9601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1C1917"/>
                </a:solidFill>
                <a:latin typeface="Arial"/>
              </a:rPr>
              <a:t>试点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794760"/>
            <a:ext cx="96012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57534E"/>
                </a:solidFill>
                <a:latin typeface="Arial"/>
              </a:rPr>
              <a:t>场景验证。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5303520"/>
            <a:ext cx="548640" cy="548640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30352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5F5F4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257800"/>
            <a:ext cx="9601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1C1917"/>
                </a:solidFill>
                <a:latin typeface="Arial"/>
              </a:rPr>
              <a:t>推广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760720"/>
            <a:ext cx="96012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57534E"/>
                </a:solidFill>
                <a:latin typeface="Arial"/>
              </a:rPr>
              <a:t>全量迁移。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1C1917"/>
                </a:solidFill>
                <a:latin typeface="Arial"/>
              </a:rPr>
              <a:t>Q2 营收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1C1917"/>
                </a:solidFill>
                <a:latin typeface="Arial"/>
              </a:rPr>
              <a:t>单位:亿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4389120"/>
          </a:xfrm>
          <a:prstGeom prst="rect">
            <a:avLst/>
          </a:prstGeom>
          <a:solidFill>
            <a:srgbClr val="ECF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7534E"/>
                </a:solidFill>
                <a:latin typeface="Arial"/>
              </a:rPr>
              <a:t>[chart placeholder · agent 用 add_bar_chart/add_line_chart 填入此区域]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47120" cy="777240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078992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r>
              <a:rPr sz="1400" b="1">
                <a:solidFill>
                  <a:srgbClr val="F5F5F4"/>
                </a:solidFill>
                <a:latin typeface="Arial"/>
              </a:rPr>
              <a:t>💡  Q2 +32%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57200" y="1188720"/>
          <a:ext cx="1124712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1124712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200" b="1">
                <a:solidFill>
                  <a:srgbClr val="166534"/>
                </a:solidFill>
                <a:latin typeface="Arial"/>
              </a:rPr>
              <a:t>Q &amp; A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0076" y="3840480"/>
            <a:ext cx="1828800" cy="54864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0152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1C1917"/>
                </a:solidFill>
                <a:latin typeface="Arial"/>
              </a:rPr>
              <a:t>赢得确定性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360152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1C1917"/>
                </a:solidFill>
                <a:latin typeface="Arial"/>
              </a:rPr>
              <a:t>c@e.com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