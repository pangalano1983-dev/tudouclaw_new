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营收</c:v>
                </c:pt>
              </c:strCache>
            </c:strRef>
          </c:tx>
          <c:cat>
            <c:strRef>
              <c:f>Sheet1!$A$2:$A$5</c:f>
              <c:strCache>
                <c:ptCount val="4"/>
                <c:pt idx="0">
                  <c:v>Q1</c:v>
                </c:pt>
                <c:pt idx="1">
                  <c:v>Q2</c:v>
                </c:pt>
                <c:pt idx="2">
                  <c:v>Q3</c:v>
                </c:pt>
                <c:pt idx="3">
                  <c:v>Q4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280</c:v>
                </c:pt>
                <c:pt idx="1">
                  <c:v>370</c:v>
                </c:pt>
                <c:pt idx="2">
                  <c:v>330</c:v>
                </c:pt>
                <c:pt idx="3">
                  <c:v>350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819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2194560"/>
            <a:ext cx="91440" cy="2468880"/>
          </a:xfrm>
          <a:prstGeom prst="rect">
            <a:avLst/>
          </a:prstGeom>
          <a:solidFill>
            <a:srgbClr val="C9A9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2377440"/>
            <a:ext cx="10058400" cy="13716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r>
              <a:rPr sz="4000" b="1">
                <a:solidFill>
                  <a:srgbClr val="FFFFFF"/>
                </a:solidFill>
                <a:latin typeface="Arial"/>
              </a:rPr>
              <a:t>综合演示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3657600"/>
            <a:ext cx="10058400" cy="7315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r>
              <a:rPr sz="2000" b="0">
                <a:solidFill>
                  <a:srgbClr val="C9A960"/>
                </a:solidFill>
                <a:latin typeface="Arial"/>
              </a:rPr>
              <a:t>8 版式覆盖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5943600"/>
            <a:ext cx="1005840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r>
              <a:rPr sz="1200" b="0">
                <a:solidFill>
                  <a:srgbClr val="C9A960"/>
                </a:solidFill>
                <a:latin typeface="Arial"/>
              </a:rPr>
              <a:t>2026 Q2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5029200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011680"/>
            <a:ext cx="4114800" cy="27432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r>
              <a:rPr sz="14000" b="1">
                <a:solidFill>
                  <a:srgbClr val="C9A960"/>
                </a:solidFill>
                <a:latin typeface="Arial"/>
              </a:rPr>
              <a:t>1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0" y="2651760"/>
            <a:ext cx="73152" cy="1645920"/>
          </a:xfrm>
          <a:prstGeom prst="rect">
            <a:avLst/>
          </a:prstGeom>
          <a:solidFill>
            <a:srgbClr val="C9A9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760720" y="2651760"/>
            <a:ext cx="5943600" cy="9144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r>
              <a:rPr sz="3200" b="1">
                <a:solidFill>
                  <a:srgbClr val="0A2540"/>
                </a:solidFill>
                <a:latin typeface="Arial"/>
              </a:rPr>
              <a:t>章节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760720" y="3657600"/>
            <a:ext cx="5943600" cy="7315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r>
              <a:rPr sz="1600" b="0">
                <a:solidFill>
                  <a:srgbClr val="64748B"/>
                </a:solidFill>
                <a:latin typeface="Arial"/>
              </a:rPr>
              <a:t>副题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20040"/>
            <a:ext cx="11247120" cy="64008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r>
              <a:rPr sz="1200" b="0">
                <a:solidFill>
                  <a:srgbClr val="0F172A"/>
                </a:solidFill>
                <a:latin typeface="Arial"/>
              </a:rPr>
              <a:t>三大支柱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960120"/>
            <a:ext cx="11247120" cy="36576"/>
          </a:xfrm>
          <a:prstGeom prst="rect">
            <a:avLst/>
          </a:prstGeom>
          <a:solidFill>
            <a:srgbClr val="C9A9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691640" y="1554480"/>
            <a:ext cx="914400" cy="914400"/>
          </a:xfrm>
          <a:prstGeom prst="ellipse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965960" y="1783080"/>
            <a:ext cx="457200" cy="457200"/>
          </a:xfrm>
          <a:prstGeom prst="ellipse">
            <a:avLst/>
          </a:prstGeom>
          <a:solidFill>
            <a:srgbClr val="0A25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20040" y="2743200"/>
            <a:ext cx="3657600" cy="5486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1400" b="1">
                <a:solidFill>
                  <a:srgbClr val="0F172A"/>
                </a:solidFill>
                <a:latin typeface="Arial"/>
              </a:rPr>
              <a:t>以人为本</a:t>
            </a:r>
          </a:p>
        </p:txBody>
      </p:sp>
      <p:sp>
        <p:nvSpPr>
          <p:cNvPr id="8" name="Rectangle 7"/>
          <p:cNvSpPr/>
          <p:nvPr/>
        </p:nvSpPr>
        <p:spPr>
          <a:xfrm>
            <a:off x="1874519" y="3429000"/>
            <a:ext cx="548640" cy="27432"/>
          </a:xfrm>
          <a:prstGeom prst="rect">
            <a:avLst/>
          </a:prstGeom>
          <a:solidFill>
            <a:srgbClr val="C9A9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3657600"/>
            <a:ext cx="3383280" cy="22860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1100" b="0">
                <a:solidFill>
                  <a:srgbClr val="64748B"/>
                </a:solidFill>
                <a:latin typeface="Arial"/>
              </a:rPr>
              <a:t>用户需求最前端。</a:t>
            </a:r>
          </a:p>
        </p:txBody>
      </p:sp>
      <p:sp>
        <p:nvSpPr>
          <p:cNvPr id="10" name="Oval 9"/>
          <p:cNvSpPr/>
          <p:nvPr/>
        </p:nvSpPr>
        <p:spPr>
          <a:xfrm>
            <a:off x="5486400" y="1554480"/>
            <a:ext cx="914400" cy="914400"/>
          </a:xfrm>
          <a:prstGeom prst="ellipse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5760720" y="1783080"/>
            <a:ext cx="457200" cy="457200"/>
          </a:xfrm>
          <a:prstGeom prst="ellipse">
            <a:avLst/>
          </a:prstGeom>
          <a:solidFill>
            <a:srgbClr val="0A25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114800" y="2743200"/>
            <a:ext cx="3657600" cy="5486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1400" b="1">
                <a:solidFill>
                  <a:srgbClr val="0F172A"/>
                </a:solidFill>
                <a:latin typeface="Arial"/>
              </a:rPr>
              <a:t>极致效率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669280" y="3429000"/>
            <a:ext cx="548640" cy="27432"/>
          </a:xfrm>
          <a:prstGeom prst="rect">
            <a:avLst/>
          </a:prstGeom>
          <a:solidFill>
            <a:srgbClr val="C9A9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251960" y="3657600"/>
            <a:ext cx="3383280" cy="22860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1100" b="0">
                <a:solidFill>
                  <a:srgbClr val="64748B"/>
                </a:solidFill>
                <a:latin typeface="Arial"/>
              </a:rPr>
              <a:t>全链路压缩时间。</a:t>
            </a:r>
          </a:p>
        </p:txBody>
      </p:sp>
      <p:sp>
        <p:nvSpPr>
          <p:cNvPr id="15" name="Oval 14"/>
          <p:cNvSpPr/>
          <p:nvPr/>
        </p:nvSpPr>
        <p:spPr>
          <a:xfrm>
            <a:off x="9281160" y="1554480"/>
            <a:ext cx="914400" cy="914400"/>
          </a:xfrm>
          <a:prstGeom prst="ellipse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9555480" y="1783080"/>
            <a:ext cx="457200" cy="457200"/>
          </a:xfrm>
          <a:prstGeom prst="ellipse">
            <a:avLst/>
          </a:prstGeom>
          <a:solidFill>
            <a:srgbClr val="0A25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909560" y="2743200"/>
            <a:ext cx="3657600" cy="5486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1400" b="1">
                <a:solidFill>
                  <a:srgbClr val="0F172A"/>
                </a:solidFill>
                <a:latin typeface="Arial"/>
              </a:rPr>
              <a:t>稳健合规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464040" y="3429000"/>
            <a:ext cx="548640" cy="27432"/>
          </a:xfrm>
          <a:prstGeom prst="rect">
            <a:avLst/>
          </a:prstGeom>
          <a:solidFill>
            <a:srgbClr val="C9A9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046720" y="3657600"/>
            <a:ext cx="3383280" cy="22860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1100" b="0">
                <a:solidFill>
                  <a:srgbClr val="64748B"/>
                </a:solidFill>
                <a:latin typeface="Arial"/>
              </a:rPr>
              <a:t>内建合规检查。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20040"/>
            <a:ext cx="11247120" cy="64008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r>
              <a:rPr sz="1200" b="0">
                <a:solidFill>
                  <a:srgbClr val="0F172A"/>
                </a:solidFill>
                <a:latin typeface="Arial"/>
              </a:rPr>
              <a:t>四大能力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960120"/>
            <a:ext cx="11247120" cy="36576"/>
          </a:xfrm>
          <a:prstGeom prst="rect">
            <a:avLst/>
          </a:prstGeom>
          <a:solidFill>
            <a:srgbClr val="C9A9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48640" y="1371600"/>
            <a:ext cx="73152" cy="2103120"/>
          </a:xfrm>
          <a:prstGeom prst="rect">
            <a:avLst/>
          </a:prstGeom>
          <a:solidFill>
            <a:srgbClr val="C9A9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22959" y="1463040"/>
            <a:ext cx="457200" cy="457200"/>
          </a:xfrm>
          <a:prstGeom prst="ellipse">
            <a:avLst/>
          </a:prstGeom>
          <a:solidFill>
            <a:srgbClr val="0A25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554480" y="1463040"/>
            <a:ext cx="457200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r>
              <a:rPr sz="1400" b="1">
                <a:solidFill>
                  <a:srgbClr val="0F172A"/>
                </a:solidFill>
                <a:latin typeface="Arial"/>
              </a:rPr>
              <a:t>安全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59" y="2103120"/>
            <a:ext cx="5303520" cy="13716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r>
              <a:rPr sz="1100" b="0">
                <a:solidFill>
                  <a:srgbClr val="64748B"/>
                </a:solidFill>
                <a:latin typeface="Arial"/>
              </a:rPr>
              <a:t>合规接入。</a:t>
            </a:r>
          </a:p>
        </p:txBody>
      </p:sp>
      <p:sp>
        <p:nvSpPr>
          <p:cNvPr id="9" name="Rectangle 8"/>
          <p:cNvSpPr/>
          <p:nvPr/>
        </p:nvSpPr>
        <p:spPr>
          <a:xfrm>
            <a:off x="6309359" y="1371600"/>
            <a:ext cx="73152" cy="2103120"/>
          </a:xfrm>
          <a:prstGeom prst="rect">
            <a:avLst/>
          </a:prstGeom>
          <a:solidFill>
            <a:srgbClr val="C9A9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6583679" y="1463040"/>
            <a:ext cx="457200" cy="457200"/>
          </a:xfrm>
          <a:prstGeom prst="ellipse">
            <a:avLst/>
          </a:prstGeom>
          <a:solidFill>
            <a:srgbClr val="0A25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0" y="1463040"/>
            <a:ext cx="457200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r>
              <a:rPr sz="1400" b="1">
                <a:solidFill>
                  <a:srgbClr val="0F172A"/>
                </a:solidFill>
                <a:latin typeface="Arial"/>
              </a:rPr>
              <a:t>监控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79" y="2103120"/>
            <a:ext cx="5303520" cy="13716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r>
              <a:rPr sz="1100" b="0">
                <a:solidFill>
                  <a:srgbClr val="64748B"/>
                </a:solidFill>
                <a:latin typeface="Arial"/>
              </a:rPr>
              <a:t>秒级告警。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48640" y="3840480"/>
            <a:ext cx="73152" cy="2103120"/>
          </a:xfrm>
          <a:prstGeom prst="rect">
            <a:avLst/>
          </a:prstGeom>
          <a:solidFill>
            <a:srgbClr val="C9A9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822959" y="3931920"/>
            <a:ext cx="457200" cy="457200"/>
          </a:xfrm>
          <a:prstGeom prst="ellipse">
            <a:avLst/>
          </a:prstGeom>
          <a:solidFill>
            <a:srgbClr val="0A25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554480" y="3931920"/>
            <a:ext cx="457200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r>
              <a:rPr sz="1400" b="1">
                <a:solidFill>
                  <a:srgbClr val="0F172A"/>
                </a:solidFill>
                <a:latin typeface="Arial"/>
              </a:rPr>
              <a:t>响应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59" y="4572000"/>
            <a:ext cx="5303520" cy="13716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r>
              <a:rPr sz="1100" b="0">
                <a:solidFill>
                  <a:srgbClr val="64748B"/>
                </a:solidFill>
                <a:latin typeface="Arial"/>
              </a:rPr>
              <a:t>闭环。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309359" y="3840480"/>
            <a:ext cx="73152" cy="2103120"/>
          </a:xfrm>
          <a:prstGeom prst="rect">
            <a:avLst/>
          </a:prstGeom>
          <a:solidFill>
            <a:srgbClr val="C9A9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6583679" y="3931920"/>
            <a:ext cx="457200" cy="457200"/>
          </a:xfrm>
          <a:prstGeom prst="ellipse">
            <a:avLst/>
          </a:prstGeom>
          <a:solidFill>
            <a:srgbClr val="0A25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315200" y="3931920"/>
            <a:ext cx="457200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r>
              <a:rPr sz="1400" b="1">
                <a:solidFill>
                  <a:srgbClr val="0F172A"/>
                </a:solidFill>
                <a:latin typeface="Arial"/>
              </a:rPr>
              <a:t>治理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83679" y="4572000"/>
            <a:ext cx="5303520" cy="13716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r>
              <a:rPr sz="1100" b="0">
                <a:solidFill>
                  <a:srgbClr val="64748B"/>
                </a:solidFill>
                <a:latin typeface="Arial"/>
              </a:rPr>
              <a:t>权限隔离。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20040"/>
            <a:ext cx="11247120" cy="64008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r>
              <a:rPr sz="1200" b="0">
                <a:solidFill>
                  <a:srgbClr val="0F172A"/>
                </a:solidFill>
                <a:latin typeface="Arial"/>
              </a:rPr>
              <a:t>传统 vs 新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960120"/>
            <a:ext cx="11247120" cy="36576"/>
          </a:xfrm>
          <a:prstGeom prst="rect">
            <a:avLst/>
          </a:prstGeom>
          <a:solidFill>
            <a:srgbClr val="C9A9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" y="1371600"/>
            <a:ext cx="5212080" cy="50292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1371600"/>
            <a:ext cx="5212080" cy="548640"/>
          </a:xfrm>
          <a:prstGeom prst="rect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371600"/>
            <a:ext cx="5212080" cy="54864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传统</a:t>
            </a:r>
          </a:p>
        </p:txBody>
      </p:sp>
      <p:sp>
        <p:nvSpPr>
          <p:cNvPr id="8" name="Oval 7"/>
          <p:cNvSpPr/>
          <p:nvPr/>
        </p:nvSpPr>
        <p:spPr>
          <a:xfrm>
            <a:off x="731520" y="2240279"/>
            <a:ext cx="164592" cy="164592"/>
          </a:xfrm>
          <a:prstGeom prst="ellipse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51560" y="2103120"/>
            <a:ext cx="4480560" cy="64008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r>
              <a:rPr sz="1100" b="0">
                <a:solidFill>
                  <a:srgbClr val="64748B"/>
                </a:solidFill>
                <a:latin typeface="Arial"/>
              </a:rPr>
              <a:t>人工盯盘</a:t>
            </a:r>
          </a:p>
        </p:txBody>
      </p:sp>
      <p:sp>
        <p:nvSpPr>
          <p:cNvPr id="10" name="Oval 9"/>
          <p:cNvSpPr/>
          <p:nvPr/>
        </p:nvSpPr>
        <p:spPr>
          <a:xfrm>
            <a:off x="731520" y="3017520"/>
            <a:ext cx="164592" cy="164592"/>
          </a:xfrm>
          <a:prstGeom prst="ellipse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51560" y="2880360"/>
            <a:ext cx="4480560" cy="64008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r>
              <a:rPr sz="1100" b="0">
                <a:solidFill>
                  <a:srgbClr val="64748B"/>
                </a:solidFill>
                <a:latin typeface="Arial"/>
              </a:rPr>
              <a:t>审批周期</a:t>
            </a:r>
          </a:p>
        </p:txBody>
      </p:sp>
      <p:sp>
        <p:nvSpPr>
          <p:cNvPr id="12" name="Oval 11"/>
          <p:cNvSpPr/>
          <p:nvPr/>
        </p:nvSpPr>
        <p:spPr>
          <a:xfrm>
            <a:off x="731520" y="3794760"/>
            <a:ext cx="164592" cy="164592"/>
          </a:xfrm>
          <a:prstGeom prst="ellipse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51560" y="3657600"/>
            <a:ext cx="4480560" cy="64008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r>
              <a:rPr sz="1100" b="0">
                <a:solidFill>
                  <a:srgbClr val="64748B"/>
                </a:solidFill>
                <a:latin typeface="Arial"/>
              </a:rPr>
              <a:t>数据散落</a:t>
            </a:r>
          </a:p>
        </p:txBody>
      </p:sp>
      <p:sp>
        <p:nvSpPr>
          <p:cNvPr id="14" name="Oval 13"/>
          <p:cNvSpPr/>
          <p:nvPr/>
        </p:nvSpPr>
        <p:spPr>
          <a:xfrm>
            <a:off x="5788152" y="3246120"/>
            <a:ext cx="612648" cy="612648"/>
          </a:xfrm>
          <a:prstGeom prst="ellipse">
            <a:avLst/>
          </a:prstGeom>
          <a:solidFill>
            <a:srgbClr val="C9A9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788152" y="3246120"/>
            <a:ext cx="612648" cy="612648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VS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519672" y="1371600"/>
            <a:ext cx="5212080" cy="50292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519672" y="1371600"/>
            <a:ext cx="5212080" cy="548640"/>
          </a:xfrm>
          <a:prstGeom prst="rect">
            <a:avLst/>
          </a:prstGeom>
          <a:solidFill>
            <a:srgbClr val="0A25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519672" y="1371600"/>
            <a:ext cx="5212080" cy="54864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新</a:t>
            </a:r>
          </a:p>
        </p:txBody>
      </p:sp>
      <p:sp>
        <p:nvSpPr>
          <p:cNvPr id="19" name="Oval 18"/>
          <p:cNvSpPr/>
          <p:nvPr/>
        </p:nvSpPr>
        <p:spPr>
          <a:xfrm>
            <a:off x="6793992" y="2240279"/>
            <a:ext cx="164592" cy="164592"/>
          </a:xfrm>
          <a:prstGeom prst="ellipse">
            <a:avLst/>
          </a:prstGeom>
          <a:solidFill>
            <a:srgbClr val="0A25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114032" y="2103120"/>
            <a:ext cx="4480560" cy="64008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r>
              <a:rPr sz="1100" b="0">
                <a:solidFill>
                  <a:srgbClr val="64748B"/>
                </a:solidFill>
                <a:latin typeface="Arial"/>
              </a:rPr>
              <a:t>自动监控</a:t>
            </a:r>
          </a:p>
        </p:txBody>
      </p:sp>
      <p:sp>
        <p:nvSpPr>
          <p:cNvPr id="21" name="Oval 20"/>
          <p:cNvSpPr/>
          <p:nvPr/>
        </p:nvSpPr>
        <p:spPr>
          <a:xfrm>
            <a:off x="6793992" y="3017520"/>
            <a:ext cx="164592" cy="164592"/>
          </a:xfrm>
          <a:prstGeom prst="ellipse">
            <a:avLst/>
          </a:prstGeom>
          <a:solidFill>
            <a:srgbClr val="0A25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114032" y="2880360"/>
            <a:ext cx="4480560" cy="64008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r>
              <a:rPr sz="1100" b="0">
                <a:solidFill>
                  <a:srgbClr val="64748B"/>
                </a:solidFill>
                <a:latin typeface="Arial"/>
              </a:rPr>
              <a:t>策略预设</a:t>
            </a:r>
          </a:p>
        </p:txBody>
      </p:sp>
      <p:sp>
        <p:nvSpPr>
          <p:cNvPr id="23" name="Oval 22"/>
          <p:cNvSpPr/>
          <p:nvPr/>
        </p:nvSpPr>
        <p:spPr>
          <a:xfrm>
            <a:off x="6793992" y="3794760"/>
            <a:ext cx="164592" cy="164592"/>
          </a:xfrm>
          <a:prstGeom prst="ellipse">
            <a:avLst/>
          </a:prstGeom>
          <a:solidFill>
            <a:srgbClr val="0A25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114032" y="3657600"/>
            <a:ext cx="4480560" cy="64008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r>
              <a:rPr sz="1100" b="0">
                <a:solidFill>
                  <a:srgbClr val="64748B"/>
                </a:solidFill>
                <a:latin typeface="Arial"/>
              </a:rPr>
              <a:t>统一数据湖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20040"/>
            <a:ext cx="11247120" cy="64008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r>
              <a:rPr sz="1200" b="0">
                <a:solidFill>
                  <a:srgbClr val="0F172A"/>
                </a:solidFill>
                <a:latin typeface="Arial"/>
              </a:rPr>
              <a:t>三步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960120"/>
            <a:ext cx="11247120" cy="36576"/>
          </a:xfrm>
          <a:prstGeom prst="rect">
            <a:avLst/>
          </a:prstGeom>
          <a:solidFill>
            <a:srgbClr val="C9A9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170432" y="1463040"/>
            <a:ext cx="36576" cy="3840480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914400" y="1371600"/>
            <a:ext cx="548640" cy="548640"/>
          </a:xfrm>
          <a:prstGeom prst="ellipse">
            <a:avLst/>
          </a:prstGeom>
          <a:solidFill>
            <a:srgbClr val="0A25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371600"/>
            <a:ext cx="548640" cy="54864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28800" y="1325880"/>
            <a:ext cx="960120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r>
              <a:rPr sz="1500" b="1">
                <a:solidFill>
                  <a:srgbClr val="0F172A"/>
                </a:solidFill>
                <a:latin typeface="Arial"/>
              </a:rPr>
              <a:t>规划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28800" y="1828800"/>
            <a:ext cx="9601200" cy="7315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r>
              <a:rPr sz="1100" b="0">
                <a:solidFill>
                  <a:srgbClr val="64748B"/>
                </a:solidFill>
                <a:latin typeface="Arial"/>
              </a:rPr>
              <a:t>目标预算。</a:t>
            </a:r>
          </a:p>
        </p:txBody>
      </p:sp>
      <p:sp>
        <p:nvSpPr>
          <p:cNvPr id="10" name="Oval 9"/>
          <p:cNvSpPr/>
          <p:nvPr/>
        </p:nvSpPr>
        <p:spPr>
          <a:xfrm>
            <a:off x="914400" y="3337560"/>
            <a:ext cx="548640" cy="548640"/>
          </a:xfrm>
          <a:prstGeom prst="ellipse">
            <a:avLst/>
          </a:prstGeom>
          <a:solidFill>
            <a:srgbClr val="0A25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3337560"/>
            <a:ext cx="548640" cy="54864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828800" y="3291840"/>
            <a:ext cx="960120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r>
              <a:rPr sz="1500" b="1">
                <a:solidFill>
                  <a:srgbClr val="0F172A"/>
                </a:solidFill>
                <a:latin typeface="Arial"/>
              </a:rPr>
              <a:t>试点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828800" y="3794760"/>
            <a:ext cx="9601200" cy="7315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r>
              <a:rPr sz="1100" b="0">
                <a:solidFill>
                  <a:srgbClr val="64748B"/>
                </a:solidFill>
                <a:latin typeface="Arial"/>
              </a:rPr>
              <a:t>场景验证。</a:t>
            </a:r>
          </a:p>
        </p:txBody>
      </p:sp>
      <p:sp>
        <p:nvSpPr>
          <p:cNvPr id="14" name="Oval 13"/>
          <p:cNvSpPr/>
          <p:nvPr/>
        </p:nvSpPr>
        <p:spPr>
          <a:xfrm>
            <a:off x="914400" y="5303520"/>
            <a:ext cx="548640" cy="548640"/>
          </a:xfrm>
          <a:prstGeom prst="ellipse">
            <a:avLst/>
          </a:prstGeom>
          <a:solidFill>
            <a:srgbClr val="0A25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14400" y="5303520"/>
            <a:ext cx="548640" cy="54864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828800" y="5257800"/>
            <a:ext cx="960120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r>
              <a:rPr sz="1500" b="1">
                <a:solidFill>
                  <a:srgbClr val="0F172A"/>
                </a:solidFill>
                <a:latin typeface="Arial"/>
              </a:rPr>
              <a:t>推广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828800" y="5760720"/>
            <a:ext cx="9601200" cy="7315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r>
              <a:rPr sz="1100" b="0">
                <a:solidFill>
                  <a:srgbClr val="64748B"/>
                </a:solidFill>
                <a:latin typeface="Arial"/>
              </a:rPr>
              <a:t>全量迁移。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20040"/>
            <a:ext cx="8229600" cy="64008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r>
              <a:rPr sz="1200" b="0">
                <a:solidFill>
                  <a:srgbClr val="0F172A"/>
                </a:solidFill>
                <a:latin typeface="Arial"/>
              </a:rPr>
              <a:t>Q2 营收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0" y="457200"/>
            <a:ext cx="310896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r"/>
            <a:r>
              <a:rPr sz="1200" b="0">
                <a:solidFill>
                  <a:srgbClr val="0F172A"/>
                </a:solidFill>
                <a:latin typeface="Arial"/>
              </a:rPr>
              <a:t>单位:亿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960120"/>
            <a:ext cx="11247120" cy="36576"/>
          </a:xfrm>
          <a:prstGeom prst="rect">
            <a:avLst/>
          </a:prstGeom>
          <a:solidFill>
            <a:srgbClr val="C9A9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1188720"/>
            <a:ext cx="11247120" cy="438912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3108960"/>
            <a:ext cx="11247120" cy="5486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1100" b="0">
                <a:solidFill>
                  <a:srgbClr val="64748B"/>
                </a:solidFill>
                <a:latin typeface="Arial"/>
              </a:rPr>
              <a:t>[chart placeholder · agent 用 add_bar_chart/add_line_chart 填入此区域]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5760720"/>
            <a:ext cx="11247120" cy="777240"/>
          </a:xfrm>
          <a:prstGeom prst="rect">
            <a:avLst/>
          </a:prstGeom>
          <a:solidFill>
            <a:srgbClr val="C9A9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5760720"/>
            <a:ext cx="10789920" cy="77724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r>
              <a:rPr sz="1400" b="1">
                <a:solidFill>
                  <a:srgbClr val="FFFFFF"/>
                </a:solidFill>
                <a:latin typeface="Arial"/>
              </a:rPr>
              <a:t>💡  Q2 +32%</a:t>
            </a:r>
          </a:p>
        </p:txBody>
      </p:sp>
      <p:graphicFrame>
        <p:nvGraphicFramePr>
          <p:cNvPr id="10" name="Chart 9"/>
          <p:cNvGraphicFramePr>
            <a:graphicFrameLocks noGrp="1"/>
          </p:cNvGraphicFramePr>
          <p:nvPr/>
        </p:nvGraphicFramePr>
        <p:xfrm>
          <a:off x="457200" y="1188720"/>
          <a:ext cx="11247120" cy="438912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37160"/>
          </a:xfrm>
          <a:prstGeom prst="rect">
            <a:avLst/>
          </a:prstGeom>
          <a:solidFill>
            <a:srgbClr val="C9A9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377440"/>
            <a:ext cx="11247120" cy="12801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4000" b="1">
                <a:solidFill>
                  <a:srgbClr val="0A2540"/>
                </a:solidFill>
                <a:latin typeface="Arial"/>
              </a:rPr>
              <a:t>Q &amp; A</a:t>
            </a:r>
          </a:p>
        </p:txBody>
      </p:sp>
      <p:sp>
        <p:nvSpPr>
          <p:cNvPr id="5" name="Rectangle 4"/>
          <p:cNvSpPr/>
          <p:nvPr/>
        </p:nvSpPr>
        <p:spPr>
          <a:xfrm>
            <a:off x="5180076" y="3840480"/>
            <a:ext cx="1828800" cy="54864"/>
          </a:xfrm>
          <a:prstGeom prst="rect">
            <a:avLst/>
          </a:prstGeom>
          <a:solidFill>
            <a:srgbClr val="C9A9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4114800"/>
            <a:ext cx="10360152" cy="7315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1200" b="0">
                <a:solidFill>
                  <a:srgbClr val="0F172A"/>
                </a:solidFill>
                <a:latin typeface="Arial"/>
              </a:rPr>
              <a:t>赢得确定性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6035040"/>
            <a:ext cx="10360152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1200" b="0">
                <a:solidFill>
                  <a:srgbClr val="0F172A"/>
                </a:solidFill>
                <a:latin typeface="Arial"/>
              </a:rPr>
              <a:t>c@e.com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720840"/>
            <a:ext cx="12188952" cy="137160"/>
          </a:xfrm>
          <a:prstGeom prst="rect">
            <a:avLst/>
          </a:prstGeom>
          <a:solidFill>
            <a:srgbClr val="C9A9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