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营收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280</c:v>
                </c:pt>
                <c:pt idx="1">
                  <c:v>370</c:v>
                </c:pt>
                <c:pt idx="2">
                  <c:v>330</c:v>
                </c:pt>
                <c:pt idx="3">
                  <c:v>350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194560"/>
            <a:ext cx="91440" cy="246888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2377440"/>
            <a:ext cx="1005840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4200" b="1">
                <a:solidFill>
                  <a:srgbClr val="F8FAFC"/>
                </a:solidFill>
                <a:latin typeface="Times New Roman"/>
              </a:rPr>
              <a:t>综合演示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657600"/>
            <a:ext cx="100584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2000" b="0">
                <a:solidFill>
                  <a:srgbClr val="E2E8F0"/>
                </a:solidFill>
                <a:latin typeface="Times New Roman"/>
              </a:rPr>
              <a:t>8 版式覆盖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5943600"/>
            <a:ext cx="10058400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991B1B"/>
                </a:solidFill>
                <a:latin typeface="Times New Roman"/>
              </a:rPr>
              <a:t>2026 Q2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0"/>
            <a:ext cx="4114800" cy="2743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0" b="1">
                <a:solidFill>
                  <a:srgbClr val="1E3A8A"/>
                </a:solidFill>
                <a:latin typeface="Times New Roman"/>
              </a:rPr>
              <a:t>1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0" y="2651760"/>
            <a:ext cx="73152" cy="1645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0" y="2651760"/>
            <a:ext cx="5943600" cy="9144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3200" b="1">
                <a:solidFill>
                  <a:srgbClr val="1E3A8A"/>
                </a:solidFill>
                <a:latin typeface="Times New Roman"/>
              </a:rPr>
              <a:t>章节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760720" y="3657600"/>
            <a:ext cx="59436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0">
                <a:solidFill>
                  <a:srgbClr val="475569"/>
                </a:solidFill>
                <a:latin typeface="Times New Roman"/>
              </a:rPr>
              <a:t>副题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三大支柱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691640" y="155448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965960" y="178308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Times New Roman"/>
              </a:rPr>
              <a:t>以人为本</a:t>
            </a:r>
          </a:p>
        </p:txBody>
      </p:sp>
      <p:sp>
        <p:nvSpPr>
          <p:cNvPr id="8" name="Rectangle 7"/>
          <p:cNvSpPr/>
          <p:nvPr/>
        </p:nvSpPr>
        <p:spPr>
          <a:xfrm>
            <a:off x="1874519" y="3429000"/>
            <a:ext cx="548640" cy="2743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Times New Roman"/>
              </a:rPr>
              <a:t>用户需求最前端。</a:t>
            </a:r>
          </a:p>
        </p:txBody>
      </p:sp>
      <p:sp>
        <p:nvSpPr>
          <p:cNvPr id="10" name="Oval 9"/>
          <p:cNvSpPr/>
          <p:nvPr/>
        </p:nvSpPr>
        <p:spPr>
          <a:xfrm>
            <a:off x="5486400" y="155448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760720" y="178308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Times New Roman"/>
              </a:rPr>
              <a:t>极致效率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9280" y="3429000"/>
            <a:ext cx="548640" cy="2743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Times New Roman"/>
              </a:rPr>
              <a:t>全链路压缩时间。</a:t>
            </a:r>
          </a:p>
        </p:txBody>
      </p:sp>
      <p:sp>
        <p:nvSpPr>
          <p:cNvPr id="15" name="Oval 14"/>
          <p:cNvSpPr/>
          <p:nvPr/>
        </p:nvSpPr>
        <p:spPr>
          <a:xfrm>
            <a:off x="9281160" y="1554480"/>
            <a:ext cx="914400" cy="914400"/>
          </a:xfrm>
          <a:prstGeom prst="ellipse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9555480" y="178308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09560" y="2743200"/>
            <a:ext cx="365760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500" b="1">
                <a:solidFill>
                  <a:srgbClr val="1E3A8A"/>
                </a:solidFill>
                <a:latin typeface="Times New Roman"/>
              </a:rPr>
              <a:t>稳健合规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464040" y="3429000"/>
            <a:ext cx="548640" cy="27432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3657600"/>
            <a:ext cx="3383280" cy="22860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Times New Roman"/>
              </a:rPr>
              <a:t>内建合规检查。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四大能力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371600"/>
            <a:ext cx="73152" cy="21031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59" y="146304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安全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合规接入。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59" y="1371600"/>
            <a:ext cx="73152" cy="21031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6583679" y="146304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0" y="146304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监控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79" y="210312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秒级告警。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840480"/>
            <a:ext cx="73152" cy="21031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59" y="393192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55448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响应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闭环。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59" y="3840480"/>
            <a:ext cx="73152" cy="21031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583679" y="3931920"/>
            <a:ext cx="457200" cy="45720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0" y="3931920"/>
            <a:ext cx="45720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500" b="1">
                <a:solidFill>
                  <a:srgbClr val="1E3A8A"/>
                </a:solidFill>
                <a:latin typeface="Times New Roman"/>
              </a:rPr>
              <a:t>治理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79" y="4572000"/>
            <a:ext cx="5303520" cy="13716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权限隔离。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传统 vs 新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5212080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Times New Roman"/>
              </a:rPr>
              <a:t>传统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2240279"/>
            <a:ext cx="164592" cy="16459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51560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人工盯盘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017520"/>
            <a:ext cx="164592" cy="16459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审批周期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3794760"/>
            <a:ext cx="164592" cy="164592"/>
          </a:xfrm>
          <a:prstGeom prst="ellipse">
            <a:avLst/>
          </a:prstGeom>
          <a:solidFill>
            <a:srgbClr val="4755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数据散落</a:t>
            </a:r>
          </a:p>
        </p:txBody>
      </p:sp>
      <p:sp>
        <p:nvSpPr>
          <p:cNvPr id="14" name="Oval 13"/>
          <p:cNvSpPr/>
          <p:nvPr/>
        </p:nvSpPr>
        <p:spPr>
          <a:xfrm>
            <a:off x="5788152" y="3246120"/>
            <a:ext cx="612648" cy="612648"/>
          </a:xfrm>
          <a:prstGeom prst="ellipse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88152" y="3246120"/>
            <a:ext cx="612648" cy="612648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Times New Roman"/>
              </a:rPr>
              <a:t>VS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19672" y="1371600"/>
            <a:ext cx="5212080" cy="50292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19672" y="1371600"/>
            <a:ext cx="521208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F8FAFC"/>
                </a:solidFill>
                <a:latin typeface="Times New Roman"/>
              </a:rPr>
              <a:t>新</a:t>
            </a:r>
          </a:p>
        </p:txBody>
      </p:sp>
      <p:sp>
        <p:nvSpPr>
          <p:cNvPr id="19" name="Oval 18"/>
          <p:cNvSpPr/>
          <p:nvPr/>
        </p:nvSpPr>
        <p:spPr>
          <a:xfrm>
            <a:off x="6793992" y="2240279"/>
            <a:ext cx="164592" cy="16459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14032" y="210312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自动监控</a:t>
            </a:r>
          </a:p>
        </p:txBody>
      </p:sp>
      <p:sp>
        <p:nvSpPr>
          <p:cNvPr id="21" name="Oval 20"/>
          <p:cNvSpPr/>
          <p:nvPr/>
        </p:nvSpPr>
        <p:spPr>
          <a:xfrm>
            <a:off x="6793992" y="3017520"/>
            <a:ext cx="164592" cy="16459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114032" y="288036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策略预设</a:t>
            </a:r>
          </a:p>
        </p:txBody>
      </p:sp>
      <p:sp>
        <p:nvSpPr>
          <p:cNvPr id="23" name="Oval 22"/>
          <p:cNvSpPr/>
          <p:nvPr/>
        </p:nvSpPr>
        <p:spPr>
          <a:xfrm>
            <a:off x="6793992" y="3794760"/>
            <a:ext cx="164592" cy="164592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14032" y="3657600"/>
            <a:ext cx="448056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统一数据湖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124712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三步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170432" y="1463040"/>
            <a:ext cx="36576" cy="3840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371600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37160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Times New Roman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132588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182880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目标预算。</a:t>
            </a:r>
          </a:p>
        </p:txBody>
      </p:sp>
      <p:sp>
        <p:nvSpPr>
          <p:cNvPr id="10" name="Oval 9"/>
          <p:cNvSpPr/>
          <p:nvPr/>
        </p:nvSpPr>
        <p:spPr>
          <a:xfrm>
            <a:off x="914400" y="3337560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33756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Times New Roman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29184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试点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379476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场景验证。</a:t>
            </a:r>
          </a:p>
        </p:txBody>
      </p:sp>
      <p:sp>
        <p:nvSpPr>
          <p:cNvPr id="14" name="Oval 13"/>
          <p:cNvSpPr/>
          <p:nvPr/>
        </p:nvSpPr>
        <p:spPr>
          <a:xfrm>
            <a:off x="914400" y="5303520"/>
            <a:ext cx="548640" cy="548640"/>
          </a:xfrm>
          <a:prstGeom prst="ellipse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303520"/>
            <a:ext cx="548640" cy="5486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pPr algn="ctr"/>
            <a:r>
              <a:rPr sz="2000" b="1">
                <a:solidFill>
                  <a:srgbClr val="F8FAFC"/>
                </a:solidFill>
                <a:latin typeface="Times New Roman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5257800"/>
            <a:ext cx="960120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600" b="1">
                <a:solidFill>
                  <a:srgbClr val="1E3A8A"/>
                </a:solidFill>
                <a:latin typeface="Times New Roman"/>
              </a:rPr>
              <a:t>推广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5760720"/>
            <a:ext cx="9601200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全量迁移。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64008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r>
              <a:rPr sz="1200" b="0">
                <a:solidFill>
                  <a:srgbClr val="0F172A"/>
                </a:solidFill>
                <a:latin typeface="Times New Roman"/>
              </a:rPr>
              <a:t>Q2 营收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0" y="457200"/>
            <a:ext cx="3108960" cy="45720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r"/>
            <a:r>
              <a:rPr sz="1200" b="0">
                <a:solidFill>
                  <a:srgbClr val="0F172A"/>
                </a:solidFill>
                <a:latin typeface="Times New Roman"/>
              </a:rPr>
              <a:t>单位:亿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60120"/>
            <a:ext cx="11247120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88720"/>
            <a:ext cx="11247120" cy="438912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108960"/>
            <a:ext cx="11247120" cy="54864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Times New Roman"/>
              </a:rPr>
              <a:t>[chart placeholder · agent 用 add_bar_chart/add_line_chart 填入此区域]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5760720"/>
            <a:ext cx="11247120" cy="77724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789920" cy="777240"/>
          </a:xfrm>
          <a:prstGeom prst="rect">
            <a:avLst/>
          </a:prstGeom>
          <a:noFill/>
        </p:spPr>
        <p:txBody>
          <a:bodyPr wrap="square" lIns="45720" rIns="45720" tIns="18288" bIns="18288" anchor="ctr">
            <a:spAutoFit/>
          </a:bodyPr>
          <a:lstStyle/>
          <a:p>
            <a:r>
              <a:rPr sz="1500" b="1">
                <a:solidFill>
                  <a:srgbClr val="F8FAFC"/>
                </a:solidFill>
                <a:latin typeface="Times New Roman"/>
              </a:rPr>
              <a:t>💡  Q2 +32%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457200" y="1188720"/>
          <a:ext cx="1124712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3716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4200" b="1">
                <a:solidFill>
                  <a:srgbClr val="1E3A8A"/>
                </a:solidFill>
                <a:latin typeface="Times New Roman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0076" y="3840480"/>
            <a:ext cx="1828800" cy="54864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4114800"/>
            <a:ext cx="10360152" cy="73152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Times New Roman"/>
              </a:rPr>
              <a:t>赢得确定性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035040"/>
            <a:ext cx="10360152" cy="365760"/>
          </a:xfrm>
          <a:prstGeom prst="rect">
            <a:avLst/>
          </a:prstGeom>
          <a:noFill/>
        </p:spPr>
        <p:txBody>
          <a:bodyPr wrap="square" lIns="45720" rIns="45720" tIns="18288" bIns="18288">
            <a:spAutoFit/>
          </a:bodyPr>
          <a:lstStyle/>
          <a:p>
            <a:pPr algn="ctr"/>
            <a:r>
              <a:rPr sz="1200" b="0">
                <a:solidFill>
                  <a:srgbClr val="0F172A"/>
                </a:solidFill>
                <a:latin typeface="Times New Roman"/>
              </a:rPr>
              <a:t>c@e.com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720840"/>
            <a:ext cx="12188952" cy="13716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