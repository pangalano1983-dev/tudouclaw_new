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营收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</c:v>
                </c:pt>
                <c:pt idx="1">
                  <c:v>370</c:v>
                </c:pt>
                <c:pt idx="2">
                  <c:v>330</c:v>
                </c:pt>
                <c:pt idx="3">
                  <c:v>350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2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94560"/>
            <a:ext cx="91440" cy="2468880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综合演示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0">
                <a:solidFill>
                  <a:srgbClr val="A7F3D0"/>
                </a:solidFill>
                <a:latin typeface="Arial"/>
              </a:rPr>
              <a:t>8 版式覆盖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F97066"/>
                </a:solidFill>
                <a:latin typeface="Arial"/>
              </a:rPr>
              <a:t>2026 Q2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114800" cy="2743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0" b="1">
                <a:solidFill>
                  <a:srgbClr val="F97066"/>
                </a:solidFill>
                <a:latin typeface="Arial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2651760"/>
            <a:ext cx="73152" cy="1645920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2651760"/>
            <a:ext cx="5943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200" b="1">
                <a:solidFill>
                  <a:srgbClr val="10B981"/>
                </a:solidFill>
                <a:latin typeface="Arial"/>
              </a:rPr>
              <a:t>章节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3657600"/>
            <a:ext cx="5943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0">
                <a:solidFill>
                  <a:srgbClr val="4B5563"/>
                </a:solidFill>
                <a:latin typeface="Arial"/>
              </a:rPr>
              <a:t>副题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64E3B"/>
                </a:solidFill>
                <a:latin typeface="Arial"/>
              </a:rPr>
              <a:t>三大支柱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1640" y="1554480"/>
            <a:ext cx="914400" cy="914400"/>
          </a:xfrm>
          <a:prstGeom prst="ellipse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65960" y="17830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064E3B"/>
                </a:solidFill>
                <a:latin typeface="Arial"/>
              </a:rPr>
              <a:t>以人为本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3429000"/>
            <a:ext cx="548640" cy="27432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Arial"/>
              </a:rPr>
              <a:t>用户需求最前端。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1554480"/>
            <a:ext cx="914400" cy="914400"/>
          </a:xfrm>
          <a:prstGeom prst="ellipse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0720" y="17830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064E3B"/>
                </a:solidFill>
                <a:latin typeface="Arial"/>
              </a:rPr>
              <a:t>极致效率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3429000"/>
            <a:ext cx="548640" cy="27432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Arial"/>
              </a:rPr>
              <a:t>全链路压缩时间。</a:t>
            </a:r>
          </a:p>
        </p:txBody>
      </p:sp>
      <p:sp>
        <p:nvSpPr>
          <p:cNvPr id="15" name="Oval 14"/>
          <p:cNvSpPr/>
          <p:nvPr/>
        </p:nvSpPr>
        <p:spPr>
          <a:xfrm>
            <a:off x="9281160" y="1554480"/>
            <a:ext cx="914400" cy="914400"/>
          </a:xfrm>
          <a:prstGeom prst="ellipse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17830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064E3B"/>
                </a:solidFill>
                <a:latin typeface="Arial"/>
              </a:rPr>
              <a:t>稳健合规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64040" y="3429000"/>
            <a:ext cx="548640" cy="27432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Arial"/>
              </a:rPr>
              <a:t>内建合规检查。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64E3B"/>
                </a:solidFill>
                <a:latin typeface="Arial"/>
              </a:rPr>
              <a:t>四大能力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73152" cy="2103120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46304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064E3B"/>
                </a:solidFill>
                <a:latin typeface="Arial"/>
              </a:rPr>
              <a:t>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0312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合规接入。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371600"/>
            <a:ext cx="73152" cy="2103120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79" y="146304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064E3B"/>
                </a:solidFill>
                <a:latin typeface="Arial"/>
              </a:rPr>
              <a:t>监控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10312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秒级告警。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73152" cy="2103120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9319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064E3B"/>
                </a:solidFill>
                <a:latin typeface="Arial"/>
              </a:rPr>
              <a:t>响应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57200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闭环。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3840480"/>
            <a:ext cx="73152" cy="2103120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79" y="39319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39319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064E3B"/>
                </a:solidFill>
                <a:latin typeface="Arial"/>
              </a:rPr>
              <a:t>治理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57200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权限隔离。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64E3B"/>
                </a:solidFill>
                <a:latin typeface="Arial"/>
              </a:rPr>
              <a:t>传统 vs 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212080" cy="50292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212080" cy="54864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传统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40279"/>
            <a:ext cx="164592" cy="164592"/>
          </a:xfrm>
          <a:prstGeom prst="ellipse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人工盯盘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017520"/>
            <a:ext cx="164592" cy="164592"/>
          </a:xfrm>
          <a:prstGeom prst="ellipse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审批周期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794760"/>
            <a:ext cx="164592" cy="164592"/>
          </a:xfrm>
          <a:prstGeom prst="ellipse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5760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数据散落</a:t>
            </a:r>
          </a:p>
        </p:txBody>
      </p:sp>
      <p:sp>
        <p:nvSpPr>
          <p:cNvPr id="14" name="Oval 13"/>
          <p:cNvSpPr/>
          <p:nvPr/>
        </p:nvSpPr>
        <p:spPr>
          <a:xfrm>
            <a:off x="5788152" y="3246120"/>
            <a:ext cx="612648" cy="612648"/>
          </a:xfrm>
          <a:prstGeom prst="ellipse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3246120"/>
            <a:ext cx="612648" cy="6126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9672" y="1371600"/>
            <a:ext cx="5212080" cy="50292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19672" y="1371600"/>
            <a:ext cx="521208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371600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新</a:t>
            </a:r>
          </a:p>
        </p:txBody>
      </p:sp>
      <p:sp>
        <p:nvSpPr>
          <p:cNvPr id="19" name="Oval 18"/>
          <p:cNvSpPr/>
          <p:nvPr/>
        </p:nvSpPr>
        <p:spPr>
          <a:xfrm>
            <a:off x="6793992" y="2240279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4032" y="210312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自动监控</a:t>
            </a:r>
          </a:p>
        </p:txBody>
      </p:sp>
      <p:sp>
        <p:nvSpPr>
          <p:cNvPr id="21" name="Oval 20"/>
          <p:cNvSpPr/>
          <p:nvPr/>
        </p:nvSpPr>
        <p:spPr>
          <a:xfrm>
            <a:off x="6793992" y="3017520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88036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策略预设</a:t>
            </a:r>
          </a:p>
        </p:txBody>
      </p:sp>
      <p:sp>
        <p:nvSpPr>
          <p:cNvPr id="23" name="Oval 22"/>
          <p:cNvSpPr/>
          <p:nvPr/>
        </p:nvSpPr>
        <p:spPr>
          <a:xfrm>
            <a:off x="6793992" y="3794760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365760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统一数据湖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64E3B"/>
                </a:solidFill>
                <a:latin typeface="Arial"/>
              </a:rPr>
              <a:t>三步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463040"/>
            <a:ext cx="36576" cy="384048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32588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64E3B"/>
                </a:solidFill>
                <a:latin typeface="Arial"/>
              </a:rPr>
              <a:t>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2880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目标预算。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3375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9184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64E3B"/>
                </a:solidFill>
                <a:latin typeface="Arial"/>
              </a:rPr>
              <a:t>试点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9476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场景验证。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53035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25780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64E3B"/>
                </a:solidFill>
                <a:latin typeface="Arial"/>
              </a:rPr>
              <a:t>推广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76072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全量迁移。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64E3B"/>
                </a:solidFill>
                <a:latin typeface="Arial"/>
              </a:rPr>
              <a:t>Q2 营收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064E3B"/>
                </a:solidFill>
                <a:latin typeface="Arial"/>
              </a:rPr>
              <a:t>单位:亿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4389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Arial"/>
              </a:rPr>
              <a:t>[chart placeholder · agent 用 add_bar_chart/add_line_chart 填入此区域]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47120" cy="777240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7899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💡  Q2 +32%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" y="1188720"/>
          <a:ext cx="112471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124712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000" b="1">
                <a:solidFill>
                  <a:srgbClr val="10B981"/>
                </a:solidFill>
                <a:latin typeface="Arial"/>
              </a:rP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076" y="3840480"/>
            <a:ext cx="1828800" cy="54864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015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064E3B"/>
                </a:solidFill>
                <a:latin typeface="Arial"/>
              </a:rPr>
              <a:t>赢得确定性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064E3B"/>
                </a:solidFill>
                <a:latin typeface="Arial"/>
              </a:rPr>
              <a:t>c@e.com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